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11680"/>
            <a:ext cx="1088136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800" b="1">
                <a:solidFill>
                  <a:srgbClr val="1F2328"/>
                </a:solidFill>
              </a:defRPr>
            </a:pPr>
            <a:r>
              <a:t>TZ Review — предварительное ревью ТЗ на потоки и витрины данных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3566160"/>
            <a:ext cx="1088136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>
                <a:solidFill>
                  <a:srgbClr val="6B7280"/>
                </a:solidFill>
              </a:defRPr>
            </a:pPr>
            <a:r>
              <a:t>Кейс МТС NET · промежуточная версия 04.09.2026 · github.com/FD-AX/MWS</a:t>
            </a:r>
            <a:br/>
            <a:r>
              <a:t>Что уже есть: конвейер с доказанными этапами, self-hosted модель, контур с историей и мониторингом, демо на документах МТС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15568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1F2328"/>
                </a:solidFill>
              </a:defRPr>
            </a:pPr>
            <a:r>
              <a:t>Проблема: что доживает до разработки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188720"/>
            <a:ext cx="1088136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700">
                <a:solidFill>
                  <a:srgbClr val="1F2328"/>
                </a:solidFill>
              </a:defRPr>
            </a:pPr>
            <a:r>
              <a:t>• Аналитик NET пишет ТЗ на поток или витрину; разработчик и тестировщик вычитывают вручную, вопросы всплывают после передачи</a:t>
            </a:r>
          </a:p>
          <a:p>
            <a:pPr>
              <a:spcAft>
                <a:spcPts val="500"/>
              </a:spcAft>
              <a:defRPr sz="1700">
                <a:solidFill>
                  <a:srgbClr val="1F2328"/>
                </a:solidFill>
              </a:defRPr>
            </a:pPr>
            <a:r>
              <a:t>• Три класса проблем — все три есть в тестовых документах МТС:</a:t>
            </a:r>
          </a:p>
          <a:p>
            <a:pPr lvl="1">
              <a:spcAft>
                <a:spcPts val="500"/>
              </a:spcAft>
              <a:defRPr sz="1500">
                <a:solidFill>
                  <a:srgbClr val="6B7280"/>
                </a:solidFill>
              </a:defRPr>
            </a:pPr>
            <a:r>
              <a:t>– пропуск: не задан ключ витрины; нет правила для NULL; нет расписания и SLA; NOT NULL/NULLABLE не указан ни для одного поля</a:t>
            </a:r>
          </a:p>
          <a:p>
            <a:pPr lvl="1">
              <a:spcAft>
                <a:spcPts val="500"/>
              </a:spcAft>
              <a:defRPr sz="1500">
                <a:solidFill>
                  <a:srgbClr val="6B7280"/>
                </a:solidFill>
              </a:defRPr>
            </a:pPr>
            <a:r>
              <a:t>– неоднозначность: «FIELD_IMEI (последний по времени за месяц)» — по какому полю времени и из какой таблицы?</a:t>
            </a:r>
          </a:p>
          <a:p>
            <a:pPr lvl="1">
              <a:spcAft>
                <a:spcPts val="500"/>
              </a:spcAft>
              <a:defRPr sz="1500">
                <a:solidFill>
                  <a:srgbClr val="6B7280"/>
                </a:solidFill>
              </a:defRPr>
            </a:pPr>
            <a:r>
              <a:t>– противоречие: «Способ загрузки: Инкремент» и «Обновление: только полная перезагрузка месяца» в одном документе</a:t>
            </a:r>
          </a:p>
          <a:p>
            <a:pPr>
              <a:spcAft>
                <a:spcPts val="500"/>
              </a:spcAft>
              <a:defRPr sz="1700">
                <a:solidFill>
                  <a:srgbClr val="1F2328"/>
                </a:solidFill>
              </a:defRPr>
            </a:pPr>
            <a:r>
              <a:t>• Кейсодатель: 4 зоны внимания, 8 обязательных пунктов документации, проверка на новом документе типа «витрина», метрика — полезность замечаний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15568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1F2328"/>
                </a:solidFill>
              </a:defRPr>
            </a:pPr>
            <a:r>
              <a:t>Постановка и наши требования к себе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188720"/>
            <a:ext cx="1088136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700">
                <a:solidFill>
                  <a:srgbClr val="1F2328"/>
                </a:solidFill>
              </a:defRPr>
            </a:pPr>
            <a:r>
              <a:t>• Вход: ТЗ (markdown, txt, docx, pdf). Выход: места, требующие уточнения — цитата · почему · что уточнить · критичность; покрытие чеклиста; вердикт</a:t>
            </a:r>
          </a:p>
          <a:p>
            <a:pPr>
              <a:spcAft>
                <a:spcPts val="500"/>
              </a:spcAft>
              <a:defRPr sz="1700">
                <a:solidFill>
                  <a:srgbClr val="1F2328"/>
                </a:solidFill>
              </a:defRPr>
            </a:pPr>
            <a:r>
              <a:t>• Решение не заменяет аналитика: светофор и вопросы, а не правки</a:t>
            </a:r>
          </a:p>
          <a:p>
            <a:pPr>
              <a:spcAft>
                <a:spcPts val="500"/>
              </a:spcAft>
              <a:defRPr sz="1700">
                <a:solidFill>
                  <a:srgbClr val="1F2328"/>
                </a:solidFill>
              </a:defRPr>
            </a:pPr>
            <a:r>
              <a:t>• Требования, которые превратились в архитектуру:</a:t>
            </a:r>
          </a:p>
          <a:p>
            <a:pPr lvl="1">
              <a:spcAft>
                <a:spcPts val="500"/>
              </a:spcAft>
              <a:defRPr sz="1500">
                <a:solidFill>
                  <a:srgbClr val="6B7280"/>
                </a:solidFill>
              </a:defRPr>
            </a:pPr>
            <a:r>
              <a:t>– замечание без привязки к тексту — не замечание → программная верификация цитат</a:t>
            </a:r>
          </a:p>
          <a:p>
            <a:pPr lvl="1">
              <a:spcAft>
                <a:spcPts val="500"/>
              </a:spcAft>
              <a:defRPr sz="1500">
                <a:solidFill>
                  <a:srgbClr val="6B7280"/>
                </a:solidFill>
              </a:defRPr>
            </a:pPr>
            <a:r>
              <a:t>– обезличивание (TABLE_*, FIELD_*, CLUSTER) — не дефект → правило в промптах и в критике</a:t>
            </a:r>
          </a:p>
          <a:p>
            <a:pPr lvl="1">
              <a:spcAft>
                <a:spcPts val="500"/>
              </a:spcAft>
              <a:defRPr sz="1500">
                <a:solidFill>
                  <a:srgbClr val="6B7280"/>
                </a:solidFill>
              </a:defRPr>
            </a:pPr>
            <a:r>
              <a:t>– 8 пунктов кейсодателя проверяются всегда → отдельные слоты, критик не вправе их резать</a:t>
            </a:r>
          </a:p>
          <a:p>
            <a:pPr lvl="1">
              <a:spcAft>
                <a:spcPts val="500"/>
              </a:spcAft>
              <a:defRPr sz="1500">
                <a:solidFill>
                  <a:srgbClr val="6B7280"/>
                </a:solidFill>
              </a:defRPr>
            </a:pPr>
            <a:r>
              <a:t>– качество измеряется, а не оценивается → голды, синтетика, бенч, журнал экспериментов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15568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1F2328"/>
                </a:solidFill>
              </a:defRPr>
            </a:pPr>
            <a:r>
              <a:t>Как мы доказываем: данные и метрики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188720"/>
            <a:ext cx="1088136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700">
                <a:solidFill>
                  <a:srgbClr val="1F2328"/>
                </a:solidFill>
              </a:defRPr>
            </a:pPr>
            <a:r>
              <a:t>• Голд: 3 обезличенных документа МТС, 36 размеченных дефектов с кодами таксономии (A пропуск, B неоднозначность, C ссылка, D противоречие, E измеримость, F шаблон) и сложностью; 9 позиций — официальные пункты</a:t>
            </a:r>
          </a:p>
          <a:p>
            <a:pPr>
              <a:spcAft>
                <a:spcPts val="500"/>
              </a:spcAft>
              <a:defRPr sz="1700">
                <a:solidFill>
                  <a:srgbClr val="1F2328"/>
                </a:solidFill>
              </a:defRPr>
            </a:pPr>
            <a:r>
              <a:t>• Фабрика синтетики: чистая база в официальном шаблоне МТС (20 разделов) + рецепты инъекций с автоматическим голдом; 33 инъекции (v1 обычные, v2hard экспертные, v3official — по 8 пунктам); 7 итераций вычитки</a:t>
            </a:r>
          </a:p>
          <a:p>
            <a:pPr>
              <a:spcAft>
                <a:spcPts val="500"/>
              </a:spcAft>
              <a:defRPr sz="1700">
                <a:solidFill>
                  <a:srgbClr val="1F2328"/>
                </a:solidFill>
              </a:defRPr>
            </a:pPr>
            <a:r>
              <a:t>• Метрики: recall по классам и сложности, шум на заведомо чистом документе, anchoring (доля верифицированных цитат), разброс между прогонами, цена (вызовы, токены)</a:t>
            </a:r>
          </a:p>
          <a:p>
            <a:pPr>
              <a:spcAft>
                <a:spcPts val="500"/>
              </a:spcAft>
              <a:defRPr sz="1700">
                <a:solidFill>
                  <a:srgbClr val="1F2328"/>
                </a:solidFill>
              </a:defRPr>
            </a:pPr>
            <a:r>
              <a:t>• Бенч «варианты × цели» → матрица ошибок «вариант × класс»: слепые зоны (не ловит никто) и уникальные вклады (ловит один)</a:t>
            </a:r>
          </a:p>
          <a:p>
            <a:pPr>
              <a:spcAft>
                <a:spcPts val="500"/>
              </a:spcAft>
              <a:defRPr sz="1700">
                <a:solidFill>
                  <a:srgbClr val="1F2328"/>
                </a:solidFill>
              </a:defRPr>
            </a:pPr>
            <a:r>
              <a:t>• Правило журнала: файл эксперимента с вопросом и ожиданием — до прогона; 16 экспериментов за трое суток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263640"/>
            <a:ext cx="11155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6B7280"/>
                </a:solidFill>
              </a:defRPr>
            </a:pPr>
            <a:r>
              <a:t>Правило проекта: любое решение = «было → стало» цифрами + команда воспроизведения. experiments/README.md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15568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1F2328"/>
                </a:solidFill>
              </a:defRPr>
            </a:pPr>
            <a:r>
              <a:t>Гипотезы и что с ними стало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48640" y="1188720"/>
          <a:ext cx="11064240" cy="38221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66160"/>
                <a:gridCol w="1280160"/>
                <a:gridCol w="4846320"/>
                <a:gridCol w="1371600"/>
              </a:tblGrid>
              <a:tr h="347472">
                <a:tc>
                  <a:txBody>
                    <a:bodyPr/>
                    <a:lstStyle/>
                    <a:p>
                      <a:pPr>
                        <a:defRPr sz="1100" b="1"/>
                      </a:pPr>
                      <a:r>
                        <a:t>Гипотеза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1"/>
                      </a:pPr>
                      <a:r>
                        <a:t>Эксперимент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1"/>
                      </a:pPr>
                      <a:r>
                        <a:t>Результат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1"/>
                      </a:pPr>
                      <a:r>
                        <a:t>Вердикт</a:t>
                      </a:r>
                    </a:p>
                  </a:txBody>
                  <a:tcPr/>
                </a:tc>
              </a:tr>
              <a:tr h="347472"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H1 Граф сущностей из заглушек обезличивания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EXP-01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synth 2/12 → 5/12, doc3 +critical, 0 ложных, 0 вызовов LLM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в прод</a:t>
                      </a:r>
                    </a:p>
                  </a:txBody>
                  <a:tcPr/>
                </a:tc>
              </a:tr>
              <a:tr h="347472"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Лестница промпта: цитаты → таксономия → обезличивание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EXP-02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таксономия +3 recall; обезличивание +2 и −40% шума; цитаты recall не двигают, но питают верификацию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выводы сняты</a:t>
                      </a:r>
                    </a:p>
                  </a:txBody>
                  <a:tcPr/>
                </a:tc>
              </a:tr>
              <a:tr h="347472"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Длина контекста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EXP-03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обрыв recall ×3 на ~28k символов; A-класс умирает первым; anchoring 100% → 47%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чанкование — план</a:t>
                      </a:r>
                    </a:p>
                  </a:txBody>
                  <a:tcPr/>
                </a:tc>
              </a:tr>
              <a:tr h="347472"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H5 «Компиляция ТЗ» (план реализации с журналом допущений)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EXP-05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+2 на doc3 в ансамбле; самый чистый проход (шум 5)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в прод (v3)</a:t>
                      </a:r>
                    </a:p>
                  </a:txBody>
                  <a:tcPr/>
                </a:tc>
              </a:tr>
              <a:tr h="347472"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Порог критика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EXP-07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θ=4: recall держится, хвост −40%; шум порогом не лечится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принят; промпт критика — H11</a:t>
                      </a:r>
                    </a:p>
                  </a:txBody>
                  <a:tcPr/>
                </a:tc>
              </a:tr>
              <a:tr h="347472"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Подход D: семантическая энтропия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EXP-09/14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doc3 7/13 → 11/13 (it3); 16/16 (it6) при шуме 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в прод</a:t>
                      </a:r>
                    </a:p>
                  </a:txBody>
                  <a:tcPr/>
                </a:tc>
              </a:tr>
              <a:tr h="347472"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H10 Логит-зонд вместо сэмплирования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EXP-11/13/14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×0.1 цены; B-класс 9/9; единственный ловил анафору; doc3 16/16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в прод</a:t>
                      </a:r>
                    </a:p>
                  </a:txBody>
                  <a:tcPr/>
                </a:tc>
              </a:tr>
              <a:tr h="347472"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Официальные пункты МТС как слоты + защита от критика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EXP-13/14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A-класс v3official 3/7 → 7/7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в прод</a:t>
                      </a:r>
                    </a:p>
                  </a:txBody>
                  <a:tcPr/>
                </a:tc>
              </a:tr>
              <a:tr h="347472"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Исход «не применимо» у слота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EXP-16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шум 120b 11 → 7 без потери пунктов МТС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в прод</a:t>
                      </a:r>
                    </a:p>
                  </a:txBody>
                  <a:tcPr/>
                </a:tc>
              </a:tr>
              <a:tr h="347472"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Модель — параметр (лестница Qwen-14B / gpt-oss-120b / GPT-5.5)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ночь, EXP-15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модель решает сильнее архитектуры, но детерминированные слои модели не видят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лестница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15568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1F2328"/>
                </a:solidFill>
              </a:defRPr>
            </a:pPr>
            <a:r>
              <a:t>Почему не «один промпт»: лестница и три дыры, найденные бенчем</a:t>
            </a:r>
          </a:p>
        </p:txBody>
      </p:sp>
      <p:pic>
        <p:nvPicPr>
          <p:cNvPr id="3" name="Picture 2" descr="fix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5127" y="1143000"/>
            <a:ext cx="11521440" cy="314488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6263640"/>
            <a:ext cx="11155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6B7280"/>
                </a:solidFill>
              </a:defRPr>
            </a:pPr>
            <a:r>
              <a:t>Промпт-бейзлайн GPT-5.5: слеп к официальному шаблону (0 из 6) и промахивает лёгкое (3 из 9). Три дыры EXP-13: критик резал верные находки по пунктам МТС (score 0), треть слотов чеклиста терялась молча, табличные цитаты не верифицировались.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15568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1F2328"/>
                </a:solidFill>
              </a:defRPr>
            </a:pPr>
            <a:r>
              <a:t>Конвейер: восемь этапов и что каждый доказал</a:t>
            </a:r>
          </a:p>
        </p:txBody>
      </p:sp>
      <p:pic>
        <p:nvPicPr>
          <p:cNvPr id="3" name="Picture 2" descr="pipeli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3687" y="1463040"/>
            <a:ext cx="11704320" cy="314047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6263640"/>
            <a:ext cx="11155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6B7280"/>
                </a:solidFill>
              </a:defRPr>
            </a:pPr>
            <a:r>
              <a:t>Серые этапы — без LLM. Дальше — по слайду на этап: что делает, зачем, чем доказано, пример находки.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15568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1F2328"/>
                </a:solidFill>
              </a:defRPr>
            </a:pPr>
            <a:r>
              <a:t>Этап 1. Детерминированный слой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143000"/>
            <a:ext cx="35661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2563EB"/>
                </a:solidFill>
              </a:defRPr>
            </a:pPr>
            <a:r>
              <a:t>Что делает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508760"/>
            <a:ext cx="356616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300">
                <a:solidFill>
                  <a:srgbClr val="1F2328"/>
                </a:solidFill>
              </a:defRPr>
            </a:pPr>
            <a:r>
              <a:t>• Проверка официального шаблона МТС: 20 разделов на месте, пустой раздел допустим только с «не применимо»</a:t>
            </a:r>
          </a:p>
          <a:p>
            <a:pPr>
              <a:spcAft>
                <a:spcPts val="500"/>
              </a:spcAft>
              <a:defRPr sz="1300">
                <a:solidFill>
                  <a:srgbClr val="1F2328"/>
                </a:solidFill>
              </a:defRPr>
            </a:pPr>
            <a:r>
              <a:t>• Языковые паттерны: TBD, «и т. д.», «при необходимости», «оперативно»</a:t>
            </a:r>
          </a:p>
          <a:p>
            <a:pPr>
              <a:spcAft>
                <a:spcPts val="500"/>
              </a:spcAft>
              <a:defRPr sz="1300">
                <a:solidFill>
                  <a:srgbClr val="1F2328"/>
                </a:solidFill>
              </a:defRPr>
            </a:pPr>
            <a:r>
              <a:t>• Обязательные разделы (источник, структура, алгоритм, регламент, контроль качества)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297680" y="1143000"/>
            <a:ext cx="35661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2563EB"/>
                </a:solidFill>
              </a:defRPr>
            </a:pPr>
            <a:r>
              <a:t>Зачем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297680" y="1508760"/>
            <a:ext cx="356616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300">
                <a:solidFill>
                  <a:srgbClr val="1F2328"/>
                </a:solidFill>
              </a:defRPr>
            </a:pPr>
            <a:r>
              <a:t>• Бесплатно, precision ≈ 1: работает до модели и без модели</a:t>
            </a:r>
          </a:p>
          <a:p>
            <a:pPr>
              <a:spcAft>
                <a:spcPts val="500"/>
              </a:spcAft>
              <a:defRPr sz="1300">
                <a:solidFill>
                  <a:srgbClr val="1F2328"/>
                </a:solidFill>
              </a:defRPr>
            </a:pPr>
            <a:r>
              <a:t>• Даёт гарантированный пол качества на любой модели заказчика</a:t>
            </a:r>
          </a:p>
          <a:p>
            <a:pPr>
              <a:spcAft>
                <a:spcPts val="500"/>
              </a:spcAft>
              <a:defRPr sz="1300">
                <a:solidFill>
                  <a:srgbClr val="1F2328"/>
                </a:solidFill>
              </a:defRPr>
            </a:pPr>
            <a:r>
              <a:t>• Официальное правило кейсодателя (п.5) проверяется буквально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046720" y="1143000"/>
            <a:ext cx="35661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2563EB"/>
                </a:solidFill>
              </a:defRPr>
            </a:pPr>
            <a:r>
              <a:t>Чем доказано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46720" y="1508760"/>
            <a:ext cx="356616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300">
                <a:solidFill>
                  <a:srgbClr val="1F2328"/>
                </a:solidFill>
              </a:defRPr>
            </a:pPr>
            <a:r>
              <a:t>• F-класс (шаблон) 6/6 при шуме 0 (EXP-13, EXP-14)</a:t>
            </a:r>
          </a:p>
          <a:p>
            <a:pPr>
              <a:spcAft>
                <a:spcPts val="500"/>
              </a:spcAft>
              <a:defRPr sz="1300">
                <a:solidFill>
                  <a:srgbClr val="1F2328"/>
                </a:solidFill>
              </a:defRPr>
            </a:pPr>
            <a:r>
              <a:t>• Промпт-бейзлайн на тех же дефектах — 0/6</a:t>
            </a:r>
          </a:p>
          <a:p>
            <a:pPr>
              <a:spcAft>
                <a:spcPts val="500"/>
              </a:spcAft>
              <a:defRPr sz="1300">
                <a:solidFill>
                  <a:srgbClr val="1F2328"/>
                </a:solidFill>
              </a:defRPr>
            </a:pPr>
            <a:r>
              <a:t>• Не отдаётся критику: его находки нельзя срезать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4526280"/>
            <a:ext cx="11064240" cy="1600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2563EB"/>
                </a:solidFill>
              </a:defRPr>
            </a:pPr>
            <a:r>
              <a:t>Пример находки на документах МТС</a:t>
            </a:r>
          </a:p>
          <a:p>
            <a:pPr>
              <a:spcAft>
                <a:spcPts val="300"/>
              </a:spcAft>
              <a:defRPr sz="1250">
                <a:solidFill>
                  <a:srgbClr val="1F2328"/>
                </a:solidFill>
              </a:defRPr>
            </a:pPr>
            <a:r>
              <a:t>template:official_missing (doc3): отсутствуют разделы Решаемая проблема, Data Catalog, DDL, Пример данных, FAQ, История изменений — по правилам кейсодателя разделы сохраняются или помечаются «не применимо».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15568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1F2328"/>
                </a:solidFill>
              </a:defRPr>
            </a:pPr>
            <a:r>
              <a:t>Этап 2. Граф сущностей (H1)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143000"/>
            <a:ext cx="35661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2563EB"/>
                </a:solidFill>
              </a:defRPr>
            </a:pPr>
            <a:r>
              <a:t>Что делает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508760"/>
            <a:ext cx="356616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300">
                <a:solidFill>
                  <a:srgbClr val="1F2328"/>
                </a:solidFill>
              </a:defRPr>
            </a:pPr>
            <a:r>
              <a:t>• Обезличивание = бесплатная разметка: TABLE_*, FIELD_*, DAG_* — сущности</a:t>
            </a:r>
          </a:p>
          <a:p>
            <a:pPr>
              <a:spcAft>
                <a:spcPts val="500"/>
              </a:spcAft>
              <a:defRPr sz="1300">
                <a:solidFill>
                  <a:srgbClr val="1F2328"/>
                </a:solidFill>
              </a:defRPr>
            </a:pPr>
            <a:r>
              <a:t>• Поля-фантомы: используются в алгоритме, но не описаны ни в одной структуре</a:t>
            </a:r>
          </a:p>
          <a:p>
            <a:pPr>
              <a:spcAft>
                <a:spcPts val="500"/>
              </a:spcAft>
              <a:defRPr sz="1300">
                <a:solidFill>
                  <a:srgbClr val="1F2328"/>
                </a:solidFill>
              </a:defRPr>
            </a:pPr>
            <a:r>
              <a:t>• Дрейф имён (TABLE_AGG_LOAD_LOG ↔ TABLE_AGG_LOG_LOAD), битые ссылки «см. раздел N»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297680" y="1143000"/>
            <a:ext cx="35661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2563EB"/>
                </a:solidFill>
              </a:defRPr>
            </a:pPr>
            <a:r>
              <a:t>Зачем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297680" y="1508760"/>
            <a:ext cx="356616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300">
                <a:solidFill>
                  <a:srgbClr val="1F2328"/>
                </a:solidFill>
              </a:defRPr>
            </a:pPr>
            <a:r>
              <a:t>• Класс C (ссылки в пустоту) LLM ловит нестабильно, граф — всегда</a:t>
            </a:r>
          </a:p>
          <a:p>
            <a:pPr>
              <a:spcAft>
                <a:spcPts val="500"/>
              </a:spcAft>
              <a:defRPr sz="1300">
                <a:solidFill>
                  <a:srgbClr val="1F2328"/>
                </a:solidFill>
              </a:defRPr>
            </a:pPr>
            <a:r>
              <a:t>• 0 вызовов модели, не зависит от длины документа</a:t>
            </a:r>
          </a:p>
          <a:p>
            <a:pPr>
              <a:spcAft>
                <a:spcPts val="500"/>
              </a:spcAft>
              <a:defRPr sz="1300">
                <a:solidFill>
                  <a:srgbClr val="1F2328"/>
                </a:solidFill>
              </a:defRPr>
            </a:pPr>
            <a:r>
              <a:t>• Даёт критичные находки там, где человек не сверит 5 таблиц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046720" y="1143000"/>
            <a:ext cx="35661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2563EB"/>
                </a:solidFill>
              </a:defRPr>
            </a:pPr>
            <a:r>
              <a:t>Чем доказано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46720" y="1508760"/>
            <a:ext cx="356616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300">
                <a:solidFill>
                  <a:srgbClr val="1F2328"/>
                </a:solidFill>
              </a:defRPr>
            </a:pPr>
            <a:r>
              <a:t>• EXP-01: synth 2/12 → 5/12, doc3 +1 critical, 0 ложных</a:t>
            </a:r>
          </a:p>
          <a:p>
            <a:pPr>
              <a:spcAft>
                <a:spcPts val="500"/>
              </a:spcAft>
              <a:defRPr sz="1300">
                <a:solidFill>
                  <a:srgbClr val="1F2328"/>
                </a:solidFill>
              </a:defRPr>
            </a:pPr>
            <a:r>
              <a:t>• EXP-13: единственный, кто держит C-класс на всех моделях</a:t>
            </a:r>
          </a:p>
          <a:p>
            <a:pPr>
              <a:spcAft>
                <a:spcPts val="500"/>
              </a:spcAft>
              <a:defRPr sz="1300">
                <a:solidFill>
                  <a:srgbClr val="1F2328"/>
                </a:solidFill>
              </a:defRPr>
            </a:pPr>
            <a:r>
              <a:t>• EXP-14: критик резал граф-находку → граф выведен из-под критика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4526280"/>
            <a:ext cx="11064240" cy="1600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2563EB"/>
                </a:solidFill>
              </a:defRPr>
            </a:pPr>
            <a:r>
              <a:t>Пример находки на документах МТС</a:t>
            </a:r>
          </a:p>
          <a:p>
            <a:pPr>
              <a:spcAft>
                <a:spcPts val="300"/>
              </a:spcAft>
              <a:defRPr sz="1250">
                <a:solidFill>
                  <a:srgbClr val="1F2328"/>
                </a:solidFill>
              </a:defRPr>
            </a:pPr>
            <a:r>
              <a:t>graph:undefined_field (doc3, critical): поля FIELD_CELL_GEN, FIELD_CELL_ID, FIELD_IMEI, FIELD_IMSI, FIELD_LAC, FIELD_TIME_STAMP используются в алгоритме, но не описаны ни в одной структуре данных документа.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15568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1F2328"/>
                </a:solidFill>
              </a:defRPr>
            </a:pPr>
            <a:r>
              <a:t>Этап 3. Чеклист полноты: 27 слотов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143000"/>
            <a:ext cx="35661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2563EB"/>
                </a:solidFill>
              </a:defRPr>
            </a:pPr>
            <a:r>
              <a:t>Что делает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508760"/>
            <a:ext cx="356616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300">
                <a:solidFill>
                  <a:srgbClr val="1F2328"/>
                </a:solidFill>
              </a:defRPr>
            </a:pPr>
            <a:r>
              <a:t>• Бинарные вопросы по домену DWH: инкремент, late-arriving, NULL, дедупликация, ключи, SLA, сбои, объёмы</a:t>
            </a:r>
          </a:p>
          <a:p>
            <a:pPr>
              <a:spcAft>
                <a:spcPts val="500"/>
              </a:spcAft>
              <a:defRPr sz="1300">
                <a:solidFill>
                  <a:srgbClr val="1F2328"/>
                </a:solidFill>
              </a:defRPr>
            </a:pPr>
            <a:r>
              <a:t>• 8 «Основных моментов» МТС — отдельные слоты (SER, CAT, NUL-03, FIL-02, LOC-02/03, REF, KEY-02)</a:t>
            </a:r>
          </a:p>
          <a:p>
            <a:pPr>
              <a:spcAft>
                <a:spcPts val="500"/>
              </a:spcAft>
              <a:defRPr sz="1300">
                <a:solidFill>
                  <a:srgbClr val="1F2328"/>
                </a:solidFill>
              </a:defRPr>
            </a:pPr>
            <a:r>
              <a:t>• Исходы OK (с цитатой) / MISSING / UNCLEAR / NA («не применимо»); батчи по 5, добор неотвеченных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297680" y="1143000"/>
            <a:ext cx="35661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2563EB"/>
                </a:solidFill>
              </a:defRPr>
            </a:pPr>
            <a:r>
              <a:t>Зачем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297680" y="1508760"/>
            <a:ext cx="356616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300">
                <a:solidFill>
                  <a:srgbClr val="1F2328"/>
                </a:solidFill>
              </a:defRPr>
            </a:pPr>
            <a:r>
              <a:t>• «Оцени качество» не работает; «есть ли X, покажи цитату» — работает (PR-Agent)</a:t>
            </a:r>
          </a:p>
          <a:p>
            <a:pPr>
              <a:spcAft>
                <a:spcPts val="500"/>
              </a:spcAft>
              <a:defRPr sz="1300">
                <a:solidFill>
                  <a:srgbClr val="1F2328"/>
                </a:solidFill>
              </a:defRPr>
            </a:pPr>
            <a:r>
              <a:t>• Требования кейсодателя проверяются каждый раз, не по настроению модели</a:t>
            </a:r>
          </a:p>
          <a:p>
            <a:pPr>
              <a:spcAft>
                <a:spcPts val="500"/>
              </a:spcAft>
              <a:defRPr sz="1300">
                <a:solidFill>
                  <a:srgbClr val="1F2328"/>
                </a:solidFill>
              </a:defRPr>
            </a:pPr>
            <a:r>
              <a:t>• NA убирает ложные пробелы: нет Kafka — вопрос о кластере Kafka не пробел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046720" y="1143000"/>
            <a:ext cx="35661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2563EB"/>
                </a:solidFill>
              </a:defRPr>
            </a:pPr>
            <a:r>
              <a:t>Чем доказано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46720" y="1508760"/>
            <a:ext cx="356616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300">
                <a:solidFill>
                  <a:srgbClr val="1F2328"/>
                </a:solidFill>
              </a:defRPr>
            </a:pPr>
            <a:r>
              <a:t>• EXP-13 → EXP-14: пункты МТС 3/7 → 7/7 после защиты от критика</a:t>
            </a:r>
          </a:p>
          <a:p>
            <a:pPr>
              <a:spcAft>
                <a:spcPts val="500"/>
              </a:spcAft>
              <a:defRPr sz="1300">
                <a:solidFill>
                  <a:srgbClr val="1F2328"/>
                </a:solidFill>
              </a:defRPr>
            </a:pPr>
            <a:r>
              <a:t>• Схема ответа теряла OK-статусы (10/27 UNKNOWN) → 0 после фикса; зонды получили свои слоты</a:t>
            </a:r>
          </a:p>
          <a:p>
            <a:pPr>
              <a:spcAft>
                <a:spcPts val="500"/>
              </a:spcAft>
              <a:defRPr sz="1300">
                <a:solidFill>
                  <a:srgbClr val="1F2328"/>
                </a:solidFill>
              </a:defRPr>
            </a:pPr>
            <a:r>
              <a:t>• EXP-16: NA — шум 120b 11 → 7 без потери пунктов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4526280"/>
            <a:ext cx="11064240" cy="1600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2563EB"/>
                </a:solidFill>
              </a:defRPr>
            </a:pPr>
            <a:r>
              <a:t>Пример находки на документах МТС</a:t>
            </a:r>
          </a:p>
          <a:p>
            <a:pPr>
              <a:spcAft>
                <a:spcPts val="300"/>
              </a:spcAft>
              <a:defRPr sz="1250">
                <a:solidFill>
                  <a:srgbClr val="1F2328"/>
                </a:solidFill>
              </a:defRPr>
            </a:pPr>
            <a:r>
              <a:t>checklist:NUL-03 (doc3, high): в структуре витрины перечислены поля, типы и описания, но ни для одного поля не указан признак NOT NULL / NULLABLE (пункт МТС №3). Что уточнить: для каждого поля витрины — обязательность.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15568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1F2328"/>
                </a:solidFill>
              </a:defRPr>
            </a:pPr>
            <a:r>
              <a:t>Этап 4. Согласованность разделов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143000"/>
            <a:ext cx="35661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2563EB"/>
                </a:solidFill>
              </a:defRPr>
            </a:pPr>
            <a:r>
              <a:t>Что делает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508760"/>
            <a:ext cx="356616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300">
                <a:solidFill>
                  <a:srgbClr val="1F2328"/>
                </a:solidFill>
              </a:defRPr>
            </a:pPr>
            <a:r>
              <a:t>• Межсекционная проверка: поле без источника, дрейф термина, противоречие разделов</a:t>
            </a:r>
          </a:p>
          <a:p>
            <a:pPr>
              <a:spcAft>
                <a:spcPts val="500"/>
              </a:spcAft>
              <a:defRPr sz="1300">
                <a:solidFill>
                  <a:srgbClr val="1F2328"/>
                </a:solidFill>
              </a:defRPr>
            </a:pPr>
            <a:r>
              <a:t>• Смотрит на документ целиком, а не на слот</a:t>
            </a:r>
          </a:p>
          <a:p>
            <a:pPr>
              <a:spcAft>
                <a:spcPts val="500"/>
              </a:spcAft>
              <a:defRPr sz="1300">
                <a:solidFill>
                  <a:srgbClr val="1F2328"/>
                </a:solidFill>
              </a:defRPr>
            </a:pPr>
            <a:r>
              <a:t>• Категории: doc:contradiction, doc:terminology, doc:completeness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297680" y="1143000"/>
            <a:ext cx="35661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2563EB"/>
                </a:solidFill>
              </a:defRPr>
            </a:pPr>
            <a:r>
              <a:t>Зачем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297680" y="1508760"/>
            <a:ext cx="356616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300">
                <a:solidFill>
                  <a:srgbClr val="1F2328"/>
                </a:solidFill>
              </a:defRPr>
            </a:pPr>
            <a:r>
              <a:t>• Противоречия — то, что хуже всего видит человек, читающий по разделам</a:t>
            </a:r>
          </a:p>
          <a:p>
            <a:pPr>
              <a:spcAft>
                <a:spcPts val="500"/>
              </a:spcAft>
              <a:defRPr sz="1300">
                <a:solidFill>
                  <a:srgbClr val="1F2328"/>
                </a:solidFill>
              </a:defRPr>
            </a:pPr>
            <a:r>
              <a:t>• Чеклист слот за слотом их не найдёт: каждый раздел по отдельности «в порядке»</a:t>
            </a:r>
          </a:p>
          <a:p>
            <a:pPr>
              <a:spcAft>
                <a:spcPts val="500"/>
              </a:spcAft>
              <a:defRPr sz="1300">
                <a:solidFill>
                  <a:srgbClr val="1F2328"/>
                </a:solidFill>
              </a:defRPr>
            </a:pPr>
            <a:r>
              <a:t>• Класс D в голде МТС — 15 дефектов из 69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046720" y="1143000"/>
            <a:ext cx="35661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2563EB"/>
                </a:solidFill>
              </a:defRPr>
            </a:pPr>
            <a:r>
              <a:t>Чем доказано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46720" y="1508760"/>
            <a:ext cx="356616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300">
                <a:solidFill>
                  <a:srgbClr val="1F2328"/>
                </a:solidFill>
              </a:defRPr>
            </a:pPr>
            <a:r>
              <a:t>• EXP-14: D-класс 10/11 у v2e, 14/15 в EXP-13 у v2g</a:t>
            </a:r>
          </a:p>
          <a:p>
            <a:pPr>
              <a:spcAft>
                <a:spcPts val="500"/>
              </a:spcAft>
              <a:defRPr sz="1300">
                <a:solidFill>
                  <a:srgbClr val="1F2328"/>
                </a:solidFill>
              </a:defRPr>
            </a:pPr>
            <a:r>
              <a:t>• Ловит G3-1 (инкремент vs полная перезагрузка), G1-1 (задержка &lt;1 мин vs ≈0 сек)</a:t>
            </a:r>
          </a:p>
          <a:p>
            <a:pPr>
              <a:spcAft>
                <a:spcPts val="500"/>
              </a:spcAft>
              <a:defRPr sz="1300">
                <a:solidFill>
                  <a:srgbClr val="1F2328"/>
                </a:solidFill>
              </a:defRPr>
            </a:pPr>
            <a:r>
              <a:t>• Уникальный вклад в EXP-10: G2-5 (часы vs минуты в сдвигах поясов)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4526280"/>
            <a:ext cx="11064240" cy="1600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2563EB"/>
                </a:solidFill>
              </a:defRPr>
            </a:pPr>
            <a:r>
              <a:t>Пример находки на документах МТС</a:t>
            </a:r>
          </a:p>
          <a:p>
            <a:pPr>
              <a:spcAft>
                <a:spcPts val="300"/>
              </a:spcAft>
              <a:defRPr sz="1250">
                <a:solidFill>
                  <a:srgbClr val="1F2328"/>
                </a:solidFill>
              </a:defRPr>
            </a:pPr>
            <a:r>
              <a:t>doc:contradiction (doc3, critical): «Способ загрузки: Инкремент», а в требованиях к агрегату «Обновление: только полная перезагрузка месяца (без upsert)». Что уточнить: инкремент или полная перезапись партиции?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15568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1F2328"/>
                </a:solidFill>
              </a:defRPr>
            </a:pPr>
            <a:r>
              <a:t>Этап 5. Взгляд разработчика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143000"/>
            <a:ext cx="35661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2563EB"/>
                </a:solidFill>
              </a:defRPr>
            </a:pPr>
            <a:r>
              <a:t>Что делает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508760"/>
            <a:ext cx="356616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300">
                <a:solidFill>
                  <a:srgbClr val="1F2328"/>
                </a:solidFill>
              </a:defRPr>
            </a:pPr>
            <a:r>
              <a:t>• Персона: «ты должен начать реализацию сегодня — где придётся угадывать?»</a:t>
            </a:r>
          </a:p>
          <a:p>
            <a:pPr>
              <a:spcAft>
                <a:spcPts val="500"/>
              </a:spcAft>
              <a:defRPr sz="1300">
                <a:solidFill>
                  <a:srgbClr val="1F2328"/>
                </a:solidFill>
              </a:defRPr>
            </a:pPr>
            <a:r>
              <a:t>• Вопросы, блокирующие код, с ценой ошибки (why); максимум 8, без общих советов</a:t>
            </a:r>
          </a:p>
          <a:p>
            <a:pPr>
              <a:spcAft>
                <a:spcPts val="500"/>
              </a:spcAft>
              <a:defRPr sz="1300">
                <a:solidFill>
                  <a:srgbClr val="1F2328"/>
                </a:solidFill>
              </a:defRPr>
            </a:pPr>
            <a:r>
              <a:t>• Запрещены вопросы о настоящих именах заглушек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297680" y="1143000"/>
            <a:ext cx="35661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2563EB"/>
                </a:solidFill>
              </a:defRPr>
            </a:pPr>
            <a:r>
              <a:t>Зачем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297680" y="1508760"/>
            <a:ext cx="356616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300">
                <a:solidFill>
                  <a:srgbClr val="1F2328"/>
                </a:solidFill>
              </a:defRPr>
            </a:pPr>
            <a:r>
              <a:t>• Это ровно та ситуация, которую кейс называет болью: разработчик угадывает</a:t>
            </a:r>
          </a:p>
          <a:p>
            <a:pPr>
              <a:spcAft>
                <a:spcPts val="500"/>
              </a:spcAft>
              <a:defRPr sz="1300">
                <a:solidFill>
                  <a:srgbClr val="1F2328"/>
                </a:solidFill>
              </a:defRPr>
            </a:pPr>
            <a:r>
              <a:t>• Даёт дефекты вне рубрики — краевые случаи логики (A3, B9), которых нет в чеклисте</a:t>
            </a:r>
          </a:p>
          <a:p>
            <a:pPr>
              <a:spcAft>
                <a:spcPts val="500"/>
              </a:spcAft>
              <a:defRPr sz="1300">
                <a:solidFill>
                  <a:srgbClr val="1F2328"/>
                </a:solidFill>
              </a:defRPr>
            </a:pPr>
            <a:r>
              <a:t>• Формулирует вопрос так, как его задали бы аналитику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046720" y="1143000"/>
            <a:ext cx="35661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2563EB"/>
                </a:solidFill>
              </a:defRPr>
            </a:pPr>
            <a:r>
              <a:t>Чем доказано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46720" y="1508760"/>
            <a:ext cx="356616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300">
                <a:solidFill>
                  <a:srgbClr val="1F2328"/>
                </a:solidFill>
              </a:defRPr>
            </a:pPr>
            <a:r>
              <a:t>• Уникальные находки класса A3/B9 на doc3: TAC не найден → vendor?, «последний по времени» — по какому полю</a:t>
            </a:r>
          </a:p>
          <a:p>
            <a:pPr>
              <a:spcAft>
                <a:spcPts val="500"/>
              </a:spcAft>
              <a:defRPr sz="1300">
                <a:solidFill>
                  <a:srgbClr val="1F2328"/>
                </a:solidFill>
              </a:defRPr>
            </a:pPr>
            <a:r>
              <a:t>• EXP-02: без таксономии и правила обезличивания — generic-каша (шум 17)</a:t>
            </a:r>
          </a:p>
          <a:p>
            <a:pPr>
              <a:spcAft>
                <a:spcPts val="500"/>
              </a:spcAft>
              <a:defRPr sz="1300">
                <a:solidFill>
                  <a:srgbClr val="1F2328"/>
                </a:solidFill>
              </a:defRPr>
            </a:pPr>
            <a:r>
              <a:t>• EXP-16: правило заглушек убрало «как называется столбец FIELD_IMSI»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4526280"/>
            <a:ext cx="11064240" cy="1600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2563EB"/>
                </a:solidFill>
              </a:defRPr>
            </a:pPr>
            <a:r>
              <a:t>Пример находки на документах МТС</a:t>
            </a:r>
          </a:p>
          <a:p>
            <a:pPr>
              <a:spcAft>
                <a:spcPts val="300"/>
              </a:spcAft>
              <a:defRPr sz="1250">
                <a:solidFill>
                  <a:srgbClr val="1F2328"/>
                </a:solidFill>
              </a:defRPr>
            </a:pPr>
            <a:r>
              <a:t>dev_question (doc3, medium, score 5): «substring(imei,1,8) = tac → vendor_name». Что делать, если полученный TAC отсутствует в TABLE_DEVICE_REF: NULL, «UNKNOWN» или иной fallback? Неправильный выбор исказит агрегат и контроль качества.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15568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1F2328"/>
                </a:solidFill>
              </a:defRPr>
            </a:pPr>
            <a:r>
              <a:t>Этап 6. Неоднозначность как число: энтропия и логит-зонд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143000"/>
            <a:ext cx="35661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2563EB"/>
                </a:solidFill>
              </a:defRPr>
            </a:pPr>
            <a:r>
              <a:t>Что делает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508760"/>
            <a:ext cx="356616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300">
                <a:solidFill>
                  <a:srgbClr val="1F2328"/>
                </a:solidFill>
              </a:defRPr>
            </a:pPr>
            <a:r>
              <a:t>• Слоты со статусом OK перечитываются: 5 сэмплов с температурой → кластеры ответов → энтропия (v2e)</a:t>
            </a:r>
          </a:p>
          <a:p>
            <a:pPr>
              <a:spcAft>
                <a:spcPts val="500"/>
              </a:spcAft>
              <a:defRPr sz="1300">
                <a:solidFill>
                  <a:srgbClr val="1F2328"/>
                </a:solidFill>
              </a:defRPr>
            </a:pPr>
            <a:r>
              <a:t>• Или один вызов на слот: P(YES)/P(NO) из top-logprobs, бинарная энтропия (v2l, H10)</a:t>
            </a:r>
          </a:p>
          <a:p>
            <a:pPr>
              <a:spcAft>
                <a:spcPts val="500"/>
              </a:spcAft>
              <a:defRPr sz="1300">
                <a:solidFill>
                  <a:srgbClr val="1F2328"/>
                </a:solidFill>
              </a:defRPr>
            </a:pPr>
            <a:r>
              <a:t>• Расходятся ответы = документ читается по-разному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297680" y="1143000"/>
            <a:ext cx="35661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2563EB"/>
                </a:solidFill>
              </a:defRPr>
            </a:pPr>
            <a:r>
              <a:t>Зачем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297680" y="1508760"/>
            <a:ext cx="356616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300">
                <a:solidFill>
                  <a:srgbClr val="1F2328"/>
                </a:solidFill>
              </a:defRPr>
            </a:pPr>
            <a:r>
              <a:t>• Чеклист говорит «есть», а два разработчика прочитают по-разному — это класс B</a:t>
            </a:r>
          </a:p>
          <a:p>
            <a:pPr>
              <a:spcAft>
                <a:spcPts val="500"/>
              </a:spcAft>
              <a:defRPr sz="1300">
                <a:solidFill>
                  <a:srgbClr val="1F2328"/>
                </a:solidFill>
              </a:defRPr>
            </a:pPr>
            <a:r>
              <a:t>• Измерение вместо мнения: порог калибруется по голду, воспроизводимо</a:t>
            </a:r>
          </a:p>
          <a:p>
            <a:pPr>
              <a:spcAft>
                <a:spcPts val="500"/>
              </a:spcAft>
              <a:defRPr sz="1300">
                <a:solidFill>
                  <a:srgbClr val="1F2328"/>
                </a:solidFill>
              </a:defRPr>
            </a:pPr>
            <a:r>
              <a:t>• Логиты в 10 раз дешевле сэмплирования и детерминированы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046720" y="1143000"/>
            <a:ext cx="35661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2563EB"/>
                </a:solidFill>
              </a:defRPr>
            </a:pPr>
            <a:r>
              <a:t>Чем доказано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46720" y="1508760"/>
            <a:ext cx="356616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300">
                <a:solidFill>
                  <a:srgbClr val="1F2328"/>
                </a:solidFill>
              </a:defRPr>
            </a:pPr>
            <a:r>
              <a:t>• EXP-09: doc3 7/13 → 11/13 (+4) при шуме 10 → 7</a:t>
            </a:r>
          </a:p>
          <a:p>
            <a:pPr>
              <a:spcAft>
                <a:spcPts val="500"/>
              </a:spcAft>
              <a:defRPr sz="1300">
                <a:solidFill>
                  <a:srgbClr val="1F2328"/>
                </a:solidFill>
              </a:defRPr>
            </a:pPr>
            <a:r>
              <a:t>• EXP-13/14: логит-зонд единственный ловил анафору «Он определяется…»; B-класс 9/9</a:t>
            </a:r>
          </a:p>
          <a:p>
            <a:pPr>
              <a:spcAft>
                <a:spcPts val="500"/>
              </a:spcAft>
              <a:defRPr sz="1300">
                <a:solidFill>
                  <a:srgbClr val="1F2328"/>
                </a:solidFill>
              </a:defRPr>
            </a:pPr>
            <a:r>
              <a:t>• EXP-14: v2e и v2l — doc3 16/16, anchoring 96–100%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4526280"/>
            <a:ext cx="11064240" cy="1600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2563EB"/>
                </a:solidFill>
              </a:defRPr>
            </a:pPr>
            <a:r>
              <a:t>Пример находки на документах МТС</a:t>
            </a:r>
          </a:p>
          <a:p>
            <a:pPr>
              <a:spcAft>
                <a:spcPts val="300"/>
              </a:spcAft>
              <a:defRPr sz="1250">
                <a:solidFill>
                  <a:srgbClr val="1F2328"/>
                </a:solidFill>
              </a:defRPr>
            </a:pPr>
            <a:r>
              <a:t>uncertainty (doc3): слот SLA-01 «расписание задано?» — чеклист ответил OK по «Ежемесячно (1 раз в месяц)», сэмплы разошлись (время запуска? какой DAG?) → находка G3-9: нет времени запуска и SLA, оркестрация не описана.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6263640"/>
            <a:ext cx="11155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6B7280"/>
                </a:solidFill>
              </a:defRPr>
            </a:pPr>
            <a:r>
              <a:t>Требует logprobs у модели: GPT-4.1 / vLLM — да, ollama — нет → план: vLLM для gpt-oss-120b.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15568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1F2328"/>
                </a:solidFill>
              </a:defRPr>
            </a:pPr>
            <a:r>
              <a:t>Этап 7. Верификация цитат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143000"/>
            <a:ext cx="35661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2563EB"/>
                </a:solidFill>
              </a:defRPr>
            </a:pPr>
            <a:r>
              <a:t>Что делает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508760"/>
            <a:ext cx="356616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300">
                <a:solidFill>
                  <a:srgbClr val="1F2328"/>
                </a:solidFill>
              </a:defRPr>
            </a:pPr>
            <a:r>
              <a:t>• Цитата обязана быть подстрокой документа (после нормализации); не нашлась — находка отбрасывается</a:t>
            </a:r>
          </a:p>
          <a:p>
            <a:pPr>
              <a:spcAft>
                <a:spcPts val="500"/>
              </a:spcAft>
              <a:defRPr sz="1300">
                <a:solidFill>
                  <a:srgbClr val="1F2328"/>
                </a:solidFill>
              </a:defRPr>
            </a:pPr>
            <a:r>
              <a:t>• Нашлась в другом разделе — переанкоривается</a:t>
            </a:r>
          </a:p>
          <a:p>
            <a:pPr>
              <a:spcAft>
                <a:spcPts val="500"/>
              </a:spcAft>
              <a:defRPr sz="1300">
                <a:solidFill>
                  <a:srgbClr val="1F2328"/>
                </a:solidFill>
              </a:defRPr>
            </a:pPr>
            <a:r>
              <a:t>• Вторая ступень для табличных цитат без «|» и с другими переносами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297680" y="1143000"/>
            <a:ext cx="35661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2563EB"/>
                </a:solidFill>
              </a:defRPr>
            </a:pPr>
            <a:r>
              <a:t>Зачем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297680" y="1508760"/>
            <a:ext cx="356616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300">
                <a:solidFill>
                  <a:srgbClr val="1F2328"/>
                </a:solidFill>
              </a:defRPr>
            </a:pPr>
            <a:r>
              <a:t>• Галлюцинированная цитата — главный способ потерять доверие аналитика</a:t>
            </a:r>
          </a:p>
          <a:p>
            <a:pPr>
              <a:spcAft>
                <a:spcPts val="500"/>
              </a:spcAft>
              <a:defRPr sz="1300">
                <a:solidFill>
                  <a:srgbClr val="1F2328"/>
                </a:solidFill>
              </a:defRPr>
            </a:pPr>
            <a:r>
              <a:t>• Даёт метрику anchoring: доля находок, которым можно верить дословно</a:t>
            </a:r>
          </a:p>
          <a:p>
            <a:pPr>
              <a:spcAft>
                <a:spcPts val="500"/>
              </a:spcAft>
              <a:defRPr sz="1300">
                <a:solidFill>
                  <a:srgbClr val="1F2328"/>
                </a:solidFill>
              </a:defRPr>
            </a:pPr>
            <a:r>
              <a:t>• Единственная защита, когда модель деградирует на длинных документах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046720" y="1143000"/>
            <a:ext cx="35661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2563EB"/>
                </a:solidFill>
              </a:defRPr>
            </a:pPr>
            <a:r>
              <a:t>Чем доказано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46720" y="1508760"/>
            <a:ext cx="356616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300">
                <a:solidFill>
                  <a:srgbClr val="1F2328"/>
                </a:solidFill>
              </a:defRPr>
            </a:pPr>
            <a:r>
              <a:t>• EXP-03: на 28k символов anchoring 100% → 47% — verify срезал галлюцинации</a:t>
            </a:r>
          </a:p>
          <a:p>
            <a:pPr>
              <a:spcAft>
                <a:spcPts val="500"/>
              </a:spcAft>
              <a:defRPr sz="1300">
                <a:solidFill>
                  <a:srgbClr val="1F2328"/>
                </a:solidFill>
              </a:defRPr>
            </a:pPr>
            <a:r>
              <a:t>• EXP-13: 5 из 21 находок отброшены из-за табличных цитат → вторая ступень</a:t>
            </a:r>
          </a:p>
          <a:p>
            <a:pPr>
              <a:spcAft>
                <a:spcPts val="500"/>
              </a:spcAft>
              <a:defRPr sz="1300">
                <a:solidFill>
                  <a:srgbClr val="1F2328"/>
                </a:solidFill>
              </a:defRPr>
            </a:pPr>
            <a:r>
              <a:t>• EXP-14: anchoring 96–100% у прод-вариантов на doc3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4526280"/>
            <a:ext cx="11064240" cy="1600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2563EB"/>
                </a:solidFill>
              </a:defRPr>
            </a:pPr>
            <a:r>
              <a:t>Пример находки на документах МТС</a:t>
            </a:r>
          </a:p>
          <a:p>
            <a:pPr>
              <a:spcAft>
                <a:spcPts val="300"/>
              </a:spcAft>
              <a:defRPr sz="1250">
                <a:solidFill>
                  <a:srgbClr val="1F2328"/>
                </a:solidFill>
              </a:defRPr>
            </a:pPr>
            <a:r>
              <a:t>dropped (doc3 v2, 120b): «FIELD_USERS_CNT является результатом агрегирования… включать его в группировку противоречит SQL» — цитата не найдена в документе → находка не показана аналитику (в отчёте видна как «отброшено верификацией»).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15568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1F2328"/>
                </a:solidFill>
              </a:defRPr>
            </a:pPr>
            <a:r>
              <a:t>Этап 8. Критик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143000"/>
            <a:ext cx="35661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2563EB"/>
                </a:solidFill>
              </a:defRPr>
            </a:pPr>
            <a:r>
              <a:t>Что делает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508760"/>
            <a:ext cx="356616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300">
                <a:solidFill>
                  <a:srgbClr val="1F2328"/>
                </a:solidFill>
              </a:defRPr>
            </a:pPr>
            <a:r>
              <a:t>• Судья видит все находки разом (Greptile), ставит score 0–10 сравнительно, группирует дубли</a:t>
            </a:r>
          </a:p>
          <a:p>
            <a:pPr>
              <a:spcAft>
                <a:spcPts val="500"/>
              </a:spcAft>
              <a:defRPr sz="1300">
                <a:solidFill>
                  <a:srgbClr val="1F2328"/>
                </a:solidFill>
              </a:defRPr>
            </a:pPr>
            <a:r>
              <a:t>• Порог θ=4 по свипу; официальные пункты МТС и детерминированные проходы порогу не подлежат</a:t>
            </a:r>
          </a:p>
          <a:p>
            <a:pPr>
              <a:spcAft>
                <a:spcPts val="500"/>
              </a:spcAft>
              <a:defRPr sz="1300">
                <a:solidFill>
                  <a:srgbClr val="1F2328"/>
                </a:solidFill>
              </a:defRPr>
            </a:pPr>
            <a:r>
              <a:t>• Score 0 за вопросы о настоящих именах заглушек и за «информация уже есть в документе»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297680" y="1143000"/>
            <a:ext cx="35661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2563EB"/>
                </a:solidFill>
              </a:defRPr>
            </a:pPr>
            <a:r>
              <a:t>Зачем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297680" y="1508760"/>
            <a:ext cx="356616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300">
                <a:solidFill>
                  <a:srgbClr val="1F2328"/>
                </a:solidFill>
              </a:defRPr>
            </a:pPr>
            <a:r>
              <a:t>• Генерация даёт кандидатов, фильтрация — ответственность отдельного шага</a:t>
            </a:r>
          </a:p>
          <a:p>
            <a:pPr>
              <a:spcAft>
                <a:spcPts val="500"/>
              </a:spcAft>
              <a:defRPr sz="1300">
                <a:solidFill>
                  <a:srgbClr val="1F2328"/>
                </a:solidFill>
              </a:defRPr>
            </a:pPr>
            <a:r>
              <a:t>• Аналитику нужны 5 точных находок, а не 15 «на всякий случай»</a:t>
            </a:r>
          </a:p>
          <a:p>
            <a:pPr>
              <a:spcAft>
                <a:spcPts val="500"/>
              </a:spcAft>
              <a:defRPr sz="1300">
                <a:solidFill>
                  <a:srgbClr val="1F2328"/>
                </a:solidFill>
              </a:defRPr>
            </a:pPr>
            <a:r>
              <a:t>• Но фильтр не вправе спорить с требованиями кейсодателя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046720" y="1143000"/>
            <a:ext cx="35661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2563EB"/>
                </a:solidFill>
              </a:defRPr>
            </a:pPr>
            <a:r>
              <a:t>Чем доказано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46720" y="1508760"/>
            <a:ext cx="356616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300">
                <a:solidFill>
                  <a:srgbClr val="1F2328"/>
                </a:solidFill>
              </a:defRPr>
            </a:pPr>
            <a:r>
              <a:t>• EXP-07: θ=4 — хвост находок −40% (60 → 36), recall doc3 12/13 держится</a:t>
            </a:r>
          </a:p>
          <a:p>
            <a:pPr>
              <a:spcAft>
                <a:spcPts val="500"/>
              </a:spcAft>
              <a:defRPr sz="1300">
                <a:solidFill>
                  <a:srgbClr val="1F2328"/>
                </a:solidFill>
              </a:defRPr>
            </a:pPr>
            <a:r>
              <a:t>• EXP-13: критик ставил 0.0 верным MISSING по Data Catalog, Kafka, фильтрам → защита слотов</a:t>
            </a:r>
          </a:p>
          <a:p>
            <a:pPr>
              <a:spcAft>
                <a:spcPts val="500"/>
              </a:spcAft>
              <a:defRPr sz="1300">
                <a:solidFill>
                  <a:srgbClr val="1F2328"/>
                </a:solidFill>
              </a:defRPr>
            </a:pPr>
            <a:r>
              <a:t>• EXP-14: пункты МТС 3/7 → 7/7; шум 9 → 7 у v2e/v2l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4526280"/>
            <a:ext cx="11064240" cy="1600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2563EB"/>
                </a:solidFill>
              </a:defRPr>
            </a:pPr>
            <a:r>
              <a:t>Пример находки на документах МТС</a:t>
            </a:r>
          </a:p>
          <a:p>
            <a:pPr>
              <a:spcAft>
                <a:spcPts val="300"/>
              </a:spcAft>
              <a:defRPr sz="1250">
                <a:solidFill>
                  <a:srgbClr val="1F2328"/>
                </a:solidFill>
              </a:defRPr>
            </a:pPr>
            <a:r>
              <a:t>rejected (doc3, 120b): checklist:INC-01 score 0 — «нет механизма инкремента», при том что документ явно описывает полную перезапись партиции; критик убрал ложный пробел. Из 25 кандидатов в отчёт прошло 16.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15568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1F2328"/>
                </a:solidFill>
              </a:defRPr>
            </a:pPr>
            <a:r>
              <a:t>Результаты: recall по размеченным дефектам</a:t>
            </a:r>
          </a:p>
        </p:txBody>
      </p:sp>
      <p:pic>
        <p:nvPicPr>
          <p:cNvPr id="3" name="Picture 2" descr="recal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5127" y="1097280"/>
            <a:ext cx="11521440" cy="339764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6263640"/>
            <a:ext cx="11155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6B7280"/>
                </a:solidFill>
              </a:defRPr>
            </a:pPr>
            <a:r>
              <a:t>Промпт слеп к шаблону и промахивает лёгкое; конвейер закрывает все 8 пунктов МТС; зонды неоднозначности дают 16/16 на целевом документе. Разброс GPT между прогонами ±2 → числа как диапазон, консенсус двух прогонов.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15568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1F2328"/>
                </a:solidFill>
              </a:defRPr>
            </a:pPr>
            <a:r>
              <a:t>Шум и порог критика</a:t>
            </a:r>
          </a:p>
        </p:txBody>
      </p:sp>
      <p:pic>
        <p:nvPicPr>
          <p:cNvPr id="3" name="Picture 2" descr="nois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5127" y="1097280"/>
            <a:ext cx="11521440" cy="318058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6263640"/>
            <a:ext cx="11155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6B7280"/>
                </a:solidFill>
              </a:defRPr>
            </a:pPr>
            <a:r>
              <a:t>Шум порогом не лечится (EXP-07): при θ=6 recall doc3 падает 12 → 8. Лечится правилами: обезличивание (−40%), «не применимо» (11 → 7 на 120b), запрет вопросов о заглушках. Трижды «шум» на чистой синтетике оказывался реальными дефектами базы → правило: читать сырые выводы глазами.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15568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1F2328"/>
                </a:solidFill>
              </a:defRPr>
            </a:pPr>
            <a:r>
              <a:t>Лестница моделей: разрыв self-hosted 120b и GPT-5.5</a:t>
            </a:r>
          </a:p>
        </p:txBody>
      </p:sp>
      <p:pic>
        <p:nvPicPr>
          <p:cNvPr id="3" name="Picture 2" descr="model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007" y="1097280"/>
            <a:ext cx="11155680" cy="2874295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6263640"/>
            <a:ext cx="11155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6B7280"/>
                </a:solidFill>
              </a:defRPr>
            </a:pPr>
            <a:r>
              <a:t>Разрыв на doc3 — 4 «выводных» дефекта (по какому полю времени последний IMEI, TAC не найден, бэкфилл, границы UTC); у GPT их добирают зонды. Путь: vLLM + logprobs на 120b. На пунктах МТС разрыв 1 дефект (11 vs 12 из 13). H100 $3.49/ч ≈ $0.4/документ.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15568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1F2328"/>
                </a:solidFill>
              </a:defRPr>
            </a:pPr>
            <a:r>
              <a:t>Что уже работает: контур и демо</a:t>
            </a:r>
          </a:p>
        </p:txBody>
      </p:sp>
      <p:pic>
        <p:nvPicPr>
          <p:cNvPr id="3" name="Picture 2" descr="archite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007" y="1097280"/>
            <a:ext cx="11155680" cy="564608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6263640"/>
            <a:ext cx="11155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6B7280"/>
                </a:solidFill>
              </a:defRPr>
            </a:pPr>
            <a:r>
              <a:t>Проверено на документах МТС: PDF → секции (doc1 11, doc2 8, doc3 14) → очередь → воркер на gpt-oss-120b → отчёт → история; doc3 14/16, doc1 12/12 по голду. UI: прогресс по этапам с оценкой времени, история версий документа, 👍/👎 по находке. RabbitMQ (DLQ), Postgres (документы, ревью, находки, фидбек), Prometheus/Grafana.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15568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1F2328"/>
                </a:solidFill>
              </a:defRPr>
            </a:pPr>
            <a:r>
              <a:t>Риски AI-решения и как закрываем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48640" y="1188720"/>
          <a:ext cx="11064240" cy="31272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3840480"/>
                <a:gridCol w="4480560"/>
              </a:tblGrid>
              <a:tr h="347472">
                <a:tc>
                  <a:txBody>
                    <a:bodyPr/>
                    <a:lstStyle/>
                    <a:p>
                      <a:pPr>
                        <a:defRPr sz="1100" b="1"/>
                      </a:pPr>
                      <a:r>
                        <a:t>Риск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1"/>
                      </a:pPr>
                      <a:r>
                        <a:t>Проявление у нас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1"/>
                      </a:pPr>
                      <a:r>
                        <a:t>Мера / статус</a:t>
                      </a:r>
                    </a:p>
                  </a:txBody>
                  <a:tcPr/>
                </a:tc>
              </a:tr>
              <a:tr h="347472"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Галлюцинация цитаты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модель «цитирует» отсутствующее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верификация цитат; anchoring 96–100%</a:t>
                      </a:r>
                    </a:p>
                  </a:txBody>
                  <a:tcPr/>
                </a:tc>
              </a:tr>
              <a:tr h="347472"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Фильтр режет правду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критик ставил 0 верным пунктам МТС (EXP-13)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защищённые слоты и детерминированные проходы (EXP-14: 3/7 → 7/7)</a:t>
                      </a:r>
                    </a:p>
                  </a:txBody>
                  <a:tcPr/>
                </a:tc>
              </a:tr>
              <a:tr h="347472"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Молчаливая потеря ответов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10/27 слотов UNKNOWN (EXP-13)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схема, добор, логирование; UNKNOWN на дашборде — 0</a:t>
                      </a:r>
                    </a:p>
                  </a:txBody>
                  <a:tcPr/>
                </a:tc>
              </a:tr>
              <a:tr h="347472"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Разброс модели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GPT ±2, 120b ±1–2 дефекта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консенсус двух прогонов; числа как диапазон</a:t>
                      </a:r>
                    </a:p>
                  </a:txBody>
                  <a:tcPr/>
                </a:tc>
              </a:tr>
              <a:tr h="347472"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Ложные срабатывания на обезличивании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«как называется столбец FIELD_IMSI» (120b)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правило в промптах + score 0 в критике (EXP-16)</a:t>
                      </a:r>
                    </a:p>
                  </a:txBody>
                  <a:tcPr/>
                </a:tc>
              </a:tr>
              <a:tr h="347472"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Синтетика ≠ реальность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«шум» трижды был правдой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вычитка сырых выводов, it1–it7; тройная разметка голдов — до финала</a:t>
                      </a:r>
                    </a:p>
                  </a:txBody>
                  <a:tcPr/>
                </a:tc>
              </a:tr>
              <a:tr h="347472"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Слабая self-hosted модель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пропускает выводные дефекты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зонды через vLLM/logprobs; reasoning effort — измерить</a:t>
                      </a:r>
                    </a:p>
                  </a:txBody>
                  <a:tcPr/>
                </a:tc>
              </a:tr>
              <a:tr h="347472"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Длинные документы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обрыв на ~28k символов (EXP-03)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/>
                      </a:pPr>
                      <a:r>
                        <a:t>чанкование по секциям — план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15568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1F2328"/>
                </a:solidFill>
              </a:defRPr>
            </a:pPr>
            <a:r>
              <a:t>План до финала (07.09)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188720"/>
            <a:ext cx="1088136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700">
                <a:solidFill>
                  <a:srgbClr val="1F2328"/>
                </a:solidFill>
              </a:defRPr>
            </a:pPr>
            <a:r>
              <a:t>• vLLM вместо ollama для gpt-oss-120b → логит-зонд и энтропия на self-hosted модели; цель doc3 ≥ 15/16</a:t>
            </a:r>
          </a:p>
          <a:p>
            <a:pPr>
              <a:spcAft>
                <a:spcPts val="500"/>
              </a:spcAft>
              <a:defRPr sz="1700">
                <a:solidFill>
                  <a:srgbClr val="1F2328"/>
                </a:solidFill>
              </a:defRPr>
            </a:pPr>
            <a:r>
              <a:t>• Тройная разметка голдов документов МТС (второй и третий размётчик), пересчёт всех таблиц</a:t>
            </a:r>
          </a:p>
          <a:p>
            <a:pPr>
              <a:spcAft>
                <a:spcPts val="500"/>
              </a:spcAft>
              <a:defRPr sz="1700">
                <a:solidFill>
                  <a:srgbClr val="1F2328"/>
                </a:solidFill>
              </a:defRPr>
            </a:pPr>
            <a:r>
              <a:t>• Детерминированные детекторы для оставшихся слепых зон: ссылка на раздел при ненумерованных заголовках, объявленная таблица без структуры, тип против значений; INC-01 → «не применимо» при полной перезаписи</a:t>
            </a:r>
          </a:p>
          <a:p>
            <a:pPr>
              <a:spcAft>
                <a:spcPts val="500"/>
              </a:spcAft>
              <a:defRPr sz="1700">
                <a:solidFill>
                  <a:srgbClr val="1F2328"/>
                </a:solidFill>
              </a:defRPr>
            </a:pPr>
            <a:r>
              <a:t>• Дашборд качества: recall по итерациям рядом с эксплуатационными метриками (bench_runs в Postgres)</a:t>
            </a:r>
          </a:p>
          <a:p>
            <a:pPr>
              <a:spcAft>
                <a:spcPts val="500"/>
              </a:spcAft>
              <a:defRPr sz="1700">
                <a:solidFill>
                  <a:srgbClr val="1F2328"/>
                </a:solidFill>
              </a:defRPr>
            </a:pPr>
            <a:r>
              <a:t>• Фронтенд аналитика на нашем API (контракт готов, CORS включён); отчёт-обоснование архитектуры по журналу; финальное демо на новом документе кейсодателя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15568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1F2328"/>
                </a:solidFill>
              </a:defRPr>
            </a:pPr>
            <a:r>
              <a:t>Команда и распределение задач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48640" y="1188720"/>
          <a:ext cx="11064240" cy="13898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51760"/>
                <a:gridCol w="2286000"/>
                <a:gridCol w="4480560"/>
                <a:gridCol w="1645920"/>
              </a:tblGrid>
              <a:tr h="347472">
                <a:tc>
                  <a:txBody>
                    <a:bodyPr/>
                    <a:lstStyle/>
                    <a:p>
                      <a:pPr>
                        <a:defRPr sz="1200" b="1"/>
                      </a:pPr>
                      <a:r>
                        <a:t>Участник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 b="1"/>
                      </a:pPr>
                      <a:r>
                        <a:t>Роль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 b="1"/>
                      </a:pPr>
                      <a:r>
                        <a:t>Зона ответственности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 b="1"/>
                      </a:pPr>
                      <a:r>
                        <a:t>Степень участия</a:t>
                      </a:r>
                    </a:p>
                  </a:txBody>
                  <a:tcPr/>
                </a:tc>
              </a:tr>
              <a:tr h="347472"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Коротков Леонид (@fDAFX), магистрант ИТМО, программа «Искусственный интеллект» (AI Talent Hub)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AI Engineer — исследование и направление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генерация и отбор идей: гипотезы, архитектурные решения, план экспериментов, выбор моделей и метрик; методология оценки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ведущая, постоянно</a:t>
                      </a:r>
                    </a:p>
                  </a:txBody>
                  <a:tcPr/>
                </a:tc>
              </a:tr>
              <a:tr h="347472"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Рыженко Виктор (@RyzhenkoViktor)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AI Engineer — реализация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код и инфраструктура: конвейер ревью и тесты, бенч и фабрика синтетики, compose-контур, интеграция self-hosted модели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частичная, по задачам реализации</a:t>
                      </a:r>
                    </a:p>
                  </a:txBody>
                  <a:tcPr/>
                </a:tc>
              </a:tr>
              <a:tr h="347472"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Сокол Тимофей (@xcmgg)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AI Product — процессы и продукт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процесс команды и курс развития, продуктовая проработка (гипотеза, MVP, критерии, риски), фронтенд аналитика, участие в коде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высокая, постоянно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548640" y="6172200"/>
            <a:ext cx="11155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6B7280"/>
                </a:solidFill>
              </a:defRPr>
            </a:pPr>
            <a:r>
              <a:t>Степень участия — на 04.09; в финальной версии уточняется по фактическому вкладу.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